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6845fac-4190-b63a-0292-0669fa15b2f1}">
          <p14:sldIdLst>
            <p14:sldId id="256"/>
            <p14:sldId id="257"/>
          </p14:sldIdLst>
        </p14:section>
        <p14:section name="Problem" id="{31c3fe46-2cf4-a3e3-56ae-8b0fabef2126}">
          <p14:sldIdLst>
            <p14:sldId id="258"/>
            <p14:sldId id="259"/>
          </p14:sldIdLst>
        </p14:section>
        <p14:section name="Method" id="{5dfbb5d3-6d2d-ba22-9cef-63388e30170b}">
          <p14:sldIdLst>
            <p14:sldId id="260"/>
            <p14:sldId id="261"/>
          </p14:sldIdLst>
        </p14:section>
        <p14:section name="Experiment" id="{07f6097a-5ddd-16a4-5ef1-fb15e80a4e8b}">
          <p14:sldIdLst>
            <p14:sldId id="262"/>
            <p14:sldId id="263"/>
          </p14:sldIdLst>
        </p14:section>
        <p14:section name="Results" id="{058b4acf-5835-25c7-8d82-cdb24822e7d5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flection" id="{f81580ff-b2ef-9898-6923-61882cc4fd6d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idea: change what the network is graded on, not the network. Every image in this deck is from a real BraTS run on my own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hook. Pause on the two percentages before explaining anything. Both figures are real slices from the validation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figure from the run. Point at the noise panel on the right — that is what the network has to 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thesis. Say the closing line slowly; everything after this follows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scope decision. It is what makes this a loss study rather than an architecture study, and it is why the comparison is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equation, the three properties, and the real weight map. Note how little of the field is red — that is the imbalance the loss corrects.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frozen judge is the methodological spine. Without it a Dice difference could be the segmentor changing rather than the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that the first version had no real baselines. That criticism is what produced this slide and most of the work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Dice_ET, 20 held-out patients. Floor and ceiling are what make everything after this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figure. Let the audience look for a difference and fail to find one. That failure is the argument for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image in the deck. PathologyLoss recovers more green AND more blue. That trade is invisible in any Dice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backbones disagree about which rival is best — but PathologyLoss is the only region-aware objective above plain L1 on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what makes the talk credible. Admitting the confound and showing the fix beats a clean result with no self-criticism.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positive finding. It only emerged because we added a region-restricted metric, which is itself part of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Reinforces slide 10: global fidelity is not where these methods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out loud. A reviewer who finds them first is a far worse outcome than an author who names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concrete next steps, each tied to something the data showed.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methodological lesson rather than the effect size. It generalises beyond this project, and it is what the audience will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0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400" kern="0" dirty="0">
                <a:solidFill>
                  <a:srgbClr val="C97B16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spc="400" kern="0" dirty="0">
                <a:solidFill>
                  <a:srgbClr val="C97B16"/>
                </a:solidFill>
              </a:rPr>
              <a:t> 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2103120"/>
            <a:ext cx="10149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 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3931920"/>
            <a:ext cx="9052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1600" dirty="0">
                <a:solidFill>
                  <a:srgbClr val="B4C6CE"/>
                </a:solidFill>
              </a:defRPr>
            </a:lvl1pPr>
          </a:lstStyle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4C6C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6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1828800"/>
            <a:ext cx="101498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" y="4343400"/>
            <a:ext cx="95097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1600" dirty="0">
                <a:solidFill>
                  <a:srgbClr val="B4C6CE"/>
                </a:solidFill>
              </a:defRPr>
            </a:lvl1pPr>
          </a:lstStyle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4C6CE"/>
                </a:solidFill>
              </a:rPr>
              <a:t> 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6303D"/>
                </a:solidFill>
              </a:defRPr>
            </a:lvl1pPr>
          </a:lstStyle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731520" y="6382512"/>
            <a:ext cx="9509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484"/>
                </a:solidFill>
              </a:rPr>
              <a:t>BraTS 2021 · 100 patients · 80/20 by patient · all figures from real runs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B16"/>
                </a:solidFill>
              </a:rPr>
              <a:t>LOUISIANA TECH UNIVERSITY  ·  MEDICAL IMAGE ANALYSIS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210312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Teaching a network </a:t>
            </a:r>
            <a:pPr indent="0" marL="0">
              <a:buNone/>
            </a:pPr>
            <a:r>
              <a:rPr lang="en-US" sz="4200" b="1" i="1" dirty="0">
                <a:solidFill>
                  <a:srgbClr val="C97B16"/>
                </a:solidFill>
              </a:rPr>
              <a:t>where to look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3931920"/>
            <a:ext cx="905256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4C6CE"/>
                </a:solidFill>
              </a:rPr>
              <a:t>A region-weighted training objective for brain-tumour MRI restoration, benchmarked against thirteen published alternatives — and an honest account of what it does and does not buy you.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The same disease, sixteen times smaller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Two patients from the dataset. Left, the enhancing tumour fills 10.4% of the slice. Right, it fills 0.64%. A pixel-averaged loss treats both identically.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624802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5" name="Image 0" descr="/home/user/sweepwork/deck_assets/regions_l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5074920" cy="14419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69134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7484"/>
                </a:solidFill>
              </a:rPr>
              <a:t>Patient A — WT 37.3%, TC 12.5%, ET 10.4% of the slice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2011680"/>
            <a:ext cx="5257800" cy="1624802"/>
          </a:xfrm>
          <a:prstGeom prst="roundRect">
            <a:avLst>
              <a:gd name="adj" fmla="val 225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8" name="Image 1" descr="/home/user/sweepwork/deck_assets/regions_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074920" cy="144192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55080" y="369134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7484"/>
                </a:solidFill>
              </a:rPr>
              <a:t>Patient B — WT 8.3%, TC 0.64%, ET 0.64% of the slice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31520" y="4160520"/>
            <a:ext cx="10698480" cy="1371600"/>
          </a:xfrm>
          <a:prstGeom prst="roundRect">
            <a:avLst>
              <a:gd name="adj" fmla="val 3333"/>
            </a:avLst>
          </a:prstGeom>
          <a:solidFill>
            <a:srgbClr val="16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51560" y="4434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The enhancing tumour drives staging, surgical planning and response assessment. It is also, routinely, under one percent of the image — so a network trained to minimise average pixel error has almost no incentive to preserve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A faster scan is a noisier scan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MRI trades time for quality. Children, patients in pain and anyone who cannot lie still do not get a ten-minute acquisition. We simulate that trade with Rician noise at sigma 0.08.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3820388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5" name="Image 0" descr="/home/user/sweepwork/deck_assets/no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5120640" cy="36375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7040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7484"/>
                </a:solidFill>
              </a:rPr>
              <a:t>Clean, corrupted, and the noise field itself. T1ce falls to 22.3 dB, FLAIR to 21.9 dB.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5029200" cy="2377440"/>
          </a:xfrm>
          <a:prstGeom prst="roundRect">
            <a:avLst>
              <a:gd name="adj" fmla="val 1923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2148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D"/>
                </a:solidFill>
              </a:rPr>
              <a:t>What is lost first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4203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01E26"/>
                </a:solidFill>
              </a:rPr>
              <a:t>Fine structure at the tumour margin — exactly the boundary a radiologist traces to decide whether disease is progressing.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566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C3B2F"/>
                </a:solidFill>
              </a:rPr>
              <a:t>The denoiser sits between the scanner and the diagnosis. Whatever it destroys, no later step recovers.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The network is graded on the wrong thing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Training minimises the average error over every pixel. That average belongs to the healthy brain.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7484"/>
                </a:solidFill>
              </a:rPr>
              <a:t>WHAT THE LOSS REWARDS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5A7484"/>
                </a:solidFill>
              </a:rPr>
              <a:t>99.4%</a:t>
            </a:r>
            <a:endParaRPr lang="en-US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484"/>
                </a:solidFill>
              </a:rPr>
              <a:t>of pixels drive the gradient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A smooth reconstruction of healthy tissue. Score it on PSNR and it looks excellent.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16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7B16"/>
                </a:solidFill>
              </a:rPr>
              <a:t>WHAT THE CLINIC NEEDS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97B16"/>
                </a:solidFill>
              </a:rPr>
              <a:t>0.6%</a:t>
            </a:r>
            <a:endParaRPr lang="en-US" sz="6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C6CE"/>
                </a:solidFill>
              </a:rPr>
              <a:t>of pixels carry the decision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A faithful enhancing-tumour margin. The network can smear it and barely move the average.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C3B2F"/>
                </a:solidFill>
              </a:rPr>
              <a:t>The metric we optimise is not the thing we care about.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1828800"/>
            <a:ext cx="10149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Change the grading rubric, not the student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05840" y="4343400"/>
            <a:ext cx="950976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4C6CE"/>
                </a:solidFill>
              </a:rPr>
              <a:t>The architecture stays byte-for-byte identical to its control. Only the loss function changes — so any difference in the result belongs to the objective and nothing else.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PathologyLoss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98448"/>
            <a:ext cx="6400800" cy="1097280"/>
          </a:xfrm>
          <a:prstGeom prst="roundRect">
            <a:avLst>
              <a:gd name="adj" fmla="val 4167"/>
            </a:avLst>
          </a:prstGeom>
          <a:solidFill>
            <a:srgbClr val="101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42646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L₁  +  Σ  wᵣ · ‖ Mᵣ ⊙ (X̂ − X) ‖₁ / |Mᵣ|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568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6CE"/>
                </a:solidFill>
              </a:rPr>
              <a:t>global term   +   one size-normalised penalty per tumour region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68096" y="2743200"/>
            <a:ext cx="237744" cy="237744"/>
          </a:xfrm>
          <a:prstGeom prst="ellipse">
            <a:avLst/>
          </a:prstGeom>
          <a:solidFill>
            <a:srgbClr val="C97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26974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Errors inside the enhancing tumour count ×3, the core ×2, the rest ×1.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" y="352958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70432" y="348386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Each region is divided by its own size, so a small region is not diluted by being small.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" y="4315968"/>
            <a:ext cx="237744" cy="237744"/>
          </a:xfrm>
          <a:prstGeom prst="ellipse">
            <a:avLst/>
          </a:prstGeom>
          <a:solidFill>
            <a:srgbClr val="4E7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0432" y="427024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The mask is used only in training. At inference the network sees the noisy image alone.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06640" y="2194560"/>
            <a:ext cx="4114800" cy="1252021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13" name="Image 0" descr="/home/user/sweepwork/deck_assets/weigh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86000"/>
            <a:ext cx="3931920" cy="106914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498080" y="3501445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7484"/>
                </a:solidFill>
              </a:rPr>
              <a:t>The weight map on a real slice: red ×3, blue ×1. The entire intervention.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How it was tested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89888"/>
            <a:ext cx="10698480" cy="1024128"/>
          </a:xfrm>
          <a:prstGeom prst="roundRect">
            <a:avLst>
              <a:gd name="adj" fmla="val 4464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642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C6CE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591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Split by patient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57276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100 subjects, 80 train / 20 held out. No patient appears in both — a leak here inflates every number downstream, and an earlier version of this study had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2578608"/>
            <a:ext cx="10698480" cy="1024128"/>
          </a:xfrm>
          <a:prstGeom prst="roundRect">
            <a:avLst>
              <a:gd name="adj" fmla="val 4464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529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C6CE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Corrupt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76148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Rician noise, sigma 0.08, applied in the image domain to all four modalities.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767328"/>
            <a:ext cx="10698480" cy="1024128"/>
          </a:xfrm>
          <a:prstGeom prst="roundRect">
            <a:avLst>
              <a:gd name="adj" fmla="val 4464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0416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C6CE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Freeze the judge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95020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A U-Net learns to outline tumours from clean images, then is locked. Every objective is scored by the identical network, so the ruler cannot drift.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956048"/>
            <a:ext cx="10698480" cy="1024128"/>
          </a:xfrm>
          <a:prstGeom prst="roundRect">
            <a:avLst>
              <a:gd name="adj" fmla="val 4464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2303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C6CE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157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Train and compare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513892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Same backbone, same data, same optimiser, same epochs. Only the loss differs.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Benchmarked against published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An earlier version of this study compared PathologyLoss only against plain L₁ — our loss against nothing. That is a control, not a benchmark.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3383280" cy="2697480"/>
          </a:xfrm>
          <a:prstGeom prst="roundRect">
            <a:avLst>
              <a:gd name="adj" fmla="val 1695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331720"/>
            <a:ext cx="237744" cy="45720"/>
          </a:xfrm>
          <a:prstGeom prst="rect">
            <a:avLst/>
          </a:prstGeom>
          <a:solidFill>
            <a:srgbClr val="C97B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7B16"/>
                </a:solidFill>
              </a:rPr>
              <a:t>REGION-AWARE RIVALS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FlatROI — binary tumour weighting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BraSyn masked L₁ (2023)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ROIRecNet-inspired (2019)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383280" cy="2697480"/>
          </a:xfrm>
          <a:prstGeom prst="roundRect">
            <a:avLst>
              <a:gd name="adj" fmla="val 1695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331720"/>
            <a:ext cx="237744" cy="4572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</a:rPr>
              <a:t>CONVENTIONAL STRENGTH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L₂, SSIM, MS-SSIM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Mix (Zhao 2017)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Total variation, VGG perceptual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057400"/>
            <a:ext cx="3383280" cy="2697480"/>
          </a:xfrm>
          <a:prstGeom prst="roundRect">
            <a:avLst>
              <a:gd name="adj" fmla="val 1695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331720"/>
            <a:ext cx="237744" cy="45720"/>
          </a:xfrm>
          <a:prstGeom prst="rect">
            <a:avLst/>
          </a:prstGeom>
          <a:solidFill>
            <a:srgbClr val="4E7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7A6B"/>
                </a:solidFill>
              </a:rPr>
              <a:t>FREQUENCY &amp; TASK-AWARE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BraSyn frequency split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DAGAN-style (Yang 2017)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01E26"/>
                </a:solidFill>
              </a:rPr>
              <a:t>LIDnet-inspired task feedback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6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937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Plus two reference arms that cost no training at all and change how every other number reads: segment the noisy image, and segment the clean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First question: does denoising help the diagnosis at all?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Nobody had measured this. Without it, every Dice score in the study floats free.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217627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A7484"/>
                </a:solidFill>
              </a:rPr>
              <a:t>0.244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9077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D"/>
                </a:solidFill>
              </a:rPr>
              <a:t>No restoration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200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7484"/>
                </a:solidFill>
              </a:rPr>
              <a:t>segment the noisy image directly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34840" y="20116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54296" y="217627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7293"/>
                </a:solidFill>
              </a:rPr>
              <a:t>0.514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654296" y="29077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D"/>
                </a:solidFill>
              </a:rPr>
              <a:t>After denoising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3200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7484"/>
                </a:solidFill>
              </a:rPr>
              <a:t>plain L₁ objective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291840" cy="1691640"/>
          </a:xfrm>
          <a:prstGeom prst="roundRect">
            <a:avLst>
              <a:gd name="adj" fmla="val 2703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7616" y="217627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7A6B"/>
                </a:solidFill>
              </a:rPr>
              <a:t>0.617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907792"/>
            <a:ext cx="2852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D"/>
                </a:solidFill>
              </a:rPr>
              <a:t>Clean image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2004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7484"/>
                </a:solidFill>
              </a:rPr>
              <a:t>the ceiling — best achievable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0698480" cy="1463040"/>
          </a:xfrm>
          <a:prstGeom prst="roundRect">
            <a:avLst>
              <a:gd name="adj" fmla="val 3125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3D"/>
                </a:solidFill>
              </a:rPr>
              <a:t>Restoration recovers 72% of the achievable gap.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617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01E26"/>
                </a:solidFill>
              </a:rPr>
              <a:t>That leaves 0.103 of headroom. A loss function that wins +0.05 is claiming half of what remains — a far more meaningful statement than a Dice number quoted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What each objective produces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The same slice, restored by each objective, with its PSNR. By eye they are nearly indistinguishable — which is the problem with judging restoration by eye.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2136882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5" name="Image 0" descr="/home/user/sweepwork/deck_assets/denoised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377440"/>
            <a:ext cx="10698480" cy="19540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892040"/>
            <a:ext cx="10698480" cy="960120"/>
          </a:xfrm>
          <a:prstGeom prst="roundRect">
            <a:avLst>
              <a:gd name="adj" fmla="val 4762"/>
            </a:avLst>
          </a:prstGeom>
          <a:solidFill>
            <a:srgbClr val="1630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1560" y="5102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Every one of these looks acceptable. The differences that matter are not in the picture — they are in what a segmentor can still find afterwards.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What the segmentor finds afterwards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Top row: the frozen segmentor on each restoration. Bottom: green where it found real enhancing tumour, red where it missed, blue where it invented tumour that is not there.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43000" y="2240280"/>
            <a:ext cx="9875520" cy="4373941"/>
          </a:xfrm>
          <a:prstGeom prst="roundRect">
            <a:avLst>
              <a:gd name="adj" fmla="val 8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5" name="Image 0" descr="/home/user/sweepwork/deck_assets/seg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31720"/>
            <a:ext cx="9692640" cy="41910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C3B2F"/>
                </a:solidFill>
              </a:rPr>
              <a:t>Uformer+PL finds the most real tumour — and also paints the largest false region.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Every objective, both backbones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1234440"/>
            <a:ext cx="9601200" cy="5572554"/>
          </a:xfrm>
          <a:prstGeom prst="roundRect">
            <a:avLst>
              <a:gd name="adj" fmla="val 65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4" name="Image 0" descr="/home/user/sweepwork/results/comparison/phase2_seed1/paper_figures/fig1_accuracy_by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25880"/>
            <a:ext cx="9418320" cy="53896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484"/>
                </a:solidFill>
              </a:rPr>
              <a:t>Subject-level means with bootstrap 95% confidence intervals. Dotted line: no restoration. Dashed line: clean image.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What the improvement is actually made 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126480" cy="4532576"/>
          </a:xfrm>
          <a:prstGeom prst="roundRect">
            <a:avLst>
              <a:gd name="adj" fmla="val 80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4" name="Image 0" descr="/home/user/sweepwork/results/comparison/phase2_seed1/paper_figures/fig5_decomposition_swin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943600" cy="43496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463040"/>
            <a:ext cx="4389120" cy="3712464"/>
          </a:xfrm>
          <a:prstGeom prst="roundRect">
            <a:avLst>
              <a:gd name="adj" fmla="val 1232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737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Verifying the code against the manuscript showed the published treatment also carried an SSIM term that its L₁ control did not.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880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8C3B2F"/>
                </a:solidFill>
              </a:rPr>
              <a:t>So the comparison was never isolating the region weighting.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611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The fix: a matched control carrying every non-pathology term, and the whole comparison re-run against that instead.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6303D"/>
                </a:solidFill>
              </a:rPr>
              <a:t>A result you cannot attribute is not a result.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Where the method genuinely wins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0" y="1280160"/>
            <a:ext cx="5120640" cy="3901483"/>
          </a:xfrm>
          <a:prstGeom prst="roundRect">
            <a:avLst>
              <a:gd name="adj" fmla="val 93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4" name="Image 0" descr="/home/user/sweepwork/results/comparison/phase2_seed1/paper_figures/fig3_accuracy_vs_psnr_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4937760" cy="37186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01E26"/>
                </a:solidFill>
              </a:rPr>
              <a:t>The original claim was that PathologyLoss reconstructs the tumour more faithfully. The study never measured that — whole-image PSNR averages over healthy brain.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3D"/>
                </a:solidFill>
              </a:rPr>
              <a:t>So we measured PSNR inside the enhancing tumour.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063240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3118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D"/>
                </a:solidFill>
              </a:rPr>
              <a:t>Uformer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7B16"/>
                </a:solidFill>
              </a:rPr>
              <a:t>30.32 dB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3300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484"/>
                </a:solidFill>
              </a:rPr>
              <a:t>best of all objectives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977640"/>
            <a:ext cx="5394960" cy="777240"/>
          </a:xfrm>
          <a:prstGeom prst="roundRect">
            <a:avLst>
              <a:gd name="adj" fmla="val 5882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4032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3D"/>
                </a:solidFill>
              </a:rPr>
              <a:t>SwinIR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315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7B16"/>
                </a:solidFill>
              </a:rPr>
              <a:t>29.99 dB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4215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484"/>
                </a:solidFill>
              </a:rPr>
              <a:t>best of all objectives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0292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6303D"/>
                </a:solidFill>
              </a:rPr>
              <a:t>Highest tumour-region fidelity on both backbones — a claim confirmed by a measurement that did not previously exist.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Where the error actually lives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9844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01E26"/>
                </a:solidFill>
              </a:rPr>
              <a:t>Absolute error against the clean image, one shared colour scale. Brighter is worse.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2739660"/>
          </a:xfrm>
          <a:prstGeom prst="roundRect">
            <a:avLst>
              <a:gd name="adj" fmla="val 1335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25400" dir="5400000">
              <a:srgbClr val="C3D0D6">
                <a:alpha val="55000"/>
              </a:srgbClr>
            </a:outerShdw>
          </a:effectLst>
        </p:spPr>
      </p:sp>
      <p:pic>
        <p:nvPicPr>
          <p:cNvPr id="5" name="Image 0" descr="/home/user/sweepwork/deck_assets/error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10698480" cy="25567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6303D"/>
                </a:solidFill>
              </a:rPr>
              <a:t>All objectives suppress noise comparably across the brain. The argument is not whether restoration works — it is what the residual error costs downstream.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What I would not yet claim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709928"/>
            <a:ext cx="237744" cy="45720"/>
          </a:xfrm>
          <a:prstGeom prst="rect">
            <a:avLst/>
          </a:prstGeom>
          <a:solidFill>
            <a:srgbClr val="8C3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828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D"/>
                </a:solidFill>
              </a:rPr>
              <a:t>One run, twenty patients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585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An earlier five-seed sweep had one seed in five reverse direction. This shows where things point, not how far.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709928"/>
            <a:ext cx="237744" cy="45720"/>
          </a:xfrm>
          <a:prstGeom prst="rect">
            <a:avLst/>
          </a:prstGeom>
          <a:solidFill>
            <a:srgbClr val="8C3B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828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D"/>
                </a:solidFill>
              </a:rPr>
              <a:t>It raises false positives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5856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Across that sweep the enhancing-tumour false-positive rate rose in ten runs out of ten. Dice alone hides this.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904488"/>
            <a:ext cx="237744" cy="45720"/>
          </a:xfrm>
          <a:prstGeom prst="rect">
            <a:avLst/>
          </a:prstGeom>
          <a:solidFill>
            <a:srgbClr val="5A7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D"/>
                </a:solidFill>
              </a:rPr>
              <a:t>The backbones disagree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4531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The strongest rival on Uformer falls below plain L₁ on SwinIR. Portability is not settled.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611880"/>
            <a:ext cx="5120640" cy="1920240"/>
          </a:xfrm>
          <a:prstGeom prst="roundRect">
            <a:avLst>
              <a:gd name="adj" fmla="val 238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904488"/>
            <a:ext cx="237744" cy="45720"/>
          </a:xfrm>
          <a:prstGeom prst="rect">
            <a:avLst/>
          </a:prstGeom>
          <a:solidFill>
            <a:srgbClr val="5A74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03D"/>
                </a:solidFill>
              </a:rPr>
              <a:t>Convergence is untested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45312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01E26"/>
                </a:solidFill>
              </a:rPr>
              <a:t>Ten epochs here; a separate hundred-epoch run suggested the gap may close. That experiment is still to run.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7548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303D"/>
                </a:solidFill>
              </a:rPr>
              <a:t>What happens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1298448"/>
          </a:xfrm>
          <a:prstGeom prst="roundRect">
            <a:avLst>
              <a:gd name="adj" fmla="val 352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47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C6CE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Run to convergence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71907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1E26"/>
                </a:solidFill>
              </a:rPr>
              <a:t>Fifty epochs on one seed, with the loss curves as evidence that the budget was sufficient.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10698480" cy="1298448"/>
          </a:xfrm>
          <a:prstGeom prst="roundRect">
            <a:avLst>
              <a:gd name="adj" fmla="val 352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35584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C6CE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Widen the cohort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2783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1E26"/>
                </a:solidFill>
              </a:rPr>
              <a:t>Seed-to-seed variation traced to which patients land in the held-out set, not to training instability. More patients, not more seeds.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480560"/>
            <a:ext cx="10698480" cy="1298448"/>
          </a:xfrm>
          <a:prstGeom prst="roundRect">
            <a:avLst>
              <a:gd name="adj" fmla="val 3521"/>
            </a:avLst>
          </a:prstGeom>
          <a:solidFill>
            <a:srgbClr val="F3F6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8646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C6CE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3D"/>
                </a:solidFill>
              </a:rPr>
              <a:t>Report the trade honestly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736592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1E26"/>
                </a:solidFill>
              </a:rPr>
              <a:t>Dice beside the false-positive rate and tumour-region PSNR, so sensitivity and specificity are both visible.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A74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7B16"/>
                </a:solidFill>
              </a:rPr>
              <a:t>WHAT THIS PROJECT TAUGHT 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2103120"/>
            <a:ext cx="10149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A baseline is not a formality</a:t>
            </a:r>
            <a:endParaRPr lang="en-US" sz="4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05840" y="3931920"/>
            <a:ext cx="9052560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B4C6CE"/>
                </a:solidFill>
              </a:rPr>
              <a:t>Almost everything that changed here came from asking what the result was being compared against. A floor and a ceiling turned an unanchored number into a meaningful one. A matched control revealed a confound. A region-restricted metric confirmed a claim the study had only asserted.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ding Room">
  <a:themeElements>
    <a:clrScheme name="Reading Room">
      <a:dk1>
        <a:srgbClr val="101E26"/>
      </a:dk1>
      <a:lt1>
        <a:srgbClr val="FFFFFF"/>
      </a:lt1>
      <a:dk2>
        <a:srgbClr val="16303D"/>
      </a:dk2>
      <a:lt2>
        <a:srgbClr val="F3F6F7"/>
      </a:lt2>
      <a:accent1>
        <a:srgbClr val="1C7293"/>
      </a:accent1>
      <a:accent2>
        <a:srgbClr val="C97B16"/>
      </a:accent2>
      <a:accent3>
        <a:srgbClr val="4E7A6B"/>
      </a:accent3>
      <a:accent4>
        <a:srgbClr val="8C3B2F"/>
      </a:accent4>
      <a:accent5>
        <a:srgbClr val="5A7484"/>
      </a:accent5>
      <a:accent6>
        <a:srgbClr val="B4C6CE"/>
      </a:accent6>
      <a:hlink>
        <a:srgbClr val="1C7293"/>
      </a:hlink>
      <a:folHlink>
        <a:srgbClr val="4E7A6B"/>
      </a:folHlink>
    </a:clrScheme>
    <a:fontScheme name="Reading Roo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PathologyLoss</dc:title>
  <dc:subject>PptxGenJS Presentation</dc:subject>
  <dc:creator>Abika Osinachi Bright</dc:creator>
  <cp:lastModifiedBy>Abika Osinachi Bright</cp:lastModifiedBy>
  <cp:revision>1</cp:revision>
  <dcterms:created xsi:type="dcterms:W3CDTF">2026-10-19T19:54:51Z</dcterms:created>
  <dcterms:modified xsi:type="dcterms:W3CDTF">2026-10-19T19:54:51Z</dcterms:modified>
</cp:coreProperties>
</file>